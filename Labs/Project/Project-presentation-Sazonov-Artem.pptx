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63" r:id="rId10"/>
    <p:sldId id="274" r:id="rId11"/>
    <p:sldId id="277" r:id="rId12"/>
    <p:sldId id="276" r:id="rId13"/>
    <p:sldId id="285" r:id="rId14"/>
    <p:sldId id="281" r:id="rId15"/>
    <p:sldId id="283" r:id="rId16"/>
    <p:sldId id="282" r:id="rId17"/>
    <p:sldId id="284" r:id="rId18"/>
    <p:sldId id="265" r:id="rId19"/>
    <p:sldId id="266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A3A72E-0380-4190-9ED1-4BD67E73B53A}">
  <a:tblStyle styleId="{04A3A72E-0380-4190-9ED1-4BD67E73B53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8"/>
      </p:cViewPr>
      <p:guideLst>
        <p:guide pos="5533"/>
        <p:guide pos="227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f98075b25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f98075b25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48702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693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620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2074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4211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62731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072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7485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01767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f29b9fb2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f29b9fb24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Дизайн сетей ЦОД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 слышно?</a:t>
            </a:r>
            <a:endParaRPr sz="4000"/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rgbClr val="013D8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500550" y="8212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1100"/>
            </a:pPr>
            <a:r>
              <a:rPr lang="ru-RU" sz="2400" dirty="0" smtClean="0"/>
              <a:t>Защита проекта.</a:t>
            </a:r>
            <a:br>
              <a:rPr lang="ru-RU" sz="2400" dirty="0" smtClean="0"/>
            </a:br>
            <a:r>
              <a:rPr lang="ru-RU" sz="2400" dirty="0" smtClean="0"/>
              <a:t>Тема</a:t>
            </a:r>
            <a:r>
              <a:rPr lang="ru-RU" sz="2400" dirty="0"/>
              <a:t>: </a:t>
            </a:r>
            <a:r>
              <a:rPr lang="ru-RU" sz="2000" dirty="0"/>
              <a:t>Моделирование реализации ПАК накопления статистической информации и содержимого на базе сетевой архитектуры CLOS с использованием VXLAN/EVPN фабрик в </a:t>
            </a:r>
            <a:r>
              <a:rPr lang="ru-RU" sz="2000" dirty="0" err="1"/>
              <a:t>георазнесенных</a:t>
            </a:r>
            <a:r>
              <a:rPr lang="ru-RU" sz="2000" dirty="0"/>
              <a:t> ЦОД</a:t>
            </a:r>
            <a:r>
              <a:rPr lang="ru-RU" sz="2000" dirty="0" smtClean="0"/>
              <a:t>.</a:t>
            </a:r>
            <a:endParaRPr lang="ru-RU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2"/>
          </p:nvPr>
        </p:nvSpPr>
        <p:spPr>
          <a:xfrm>
            <a:off x="1775404" y="2978831"/>
            <a:ext cx="7216321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 smtClean="0">
                <a:solidFill>
                  <a:srgbClr val="02418B"/>
                </a:solidFill>
              </a:rPr>
              <a:t>Сазонов Артем</a:t>
            </a:r>
            <a:endParaRPr dirty="0">
              <a:solidFill>
                <a:srgbClr val="02418B"/>
              </a:solidFill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1775404" y="3662550"/>
            <a:ext cx="7216321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dirty="0"/>
              <a:t>Должность: </a:t>
            </a:r>
            <a:r>
              <a:rPr lang="ru-RU" sz="1400" dirty="0" smtClean="0"/>
              <a:t>Руководитель группы, Отдел проектирования решений передачи данных.</a:t>
            </a: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 dirty="0"/>
              <a:t>Компания: ООО </a:t>
            </a:r>
            <a:r>
              <a:rPr lang="ru" sz="1400" dirty="0" smtClean="0"/>
              <a:t>«Цитадель»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559075" y="342525"/>
            <a:ext cx="6518100" cy="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План защиты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19"/>
          <p:cNvSpPr/>
          <p:nvPr/>
        </p:nvSpPr>
        <p:spPr>
          <a:xfrm>
            <a:off x="696923" y="1099674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Цели проекта 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696923" y="1729587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Что планировалось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19"/>
          <p:cNvSpPr/>
          <p:nvPr/>
        </p:nvSpPr>
        <p:spPr>
          <a:xfrm>
            <a:off x="696923" y="2369806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Используемые технологии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696923" y="3010040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lvl="0"/>
            <a:r>
              <a:rPr lang="ru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Схемы/архитектура</a:t>
            </a:r>
            <a:endParaRPr lang="en-US" dirty="0" smtClean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9"/>
          <p:cNvSpPr/>
          <p:nvPr/>
        </p:nvSpPr>
        <p:spPr>
          <a:xfrm>
            <a:off x="696923" y="3608285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r>
              <a:rPr lang="ru-RU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Что </a:t>
            </a:r>
            <a:r>
              <a:rPr lang="ru-RU" dirty="0" smtClea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получилось</a:t>
            </a:r>
            <a:endParaRPr lang="ru-RU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696923" y="4206531"/>
            <a:ext cx="2589300" cy="383700"/>
          </a:xfrm>
          <a:prstGeom prst="roundRect">
            <a:avLst>
              <a:gd name="adj" fmla="val 16667"/>
            </a:avLst>
          </a:prstGeom>
          <a:solidFill>
            <a:srgbClr val="8B8EE3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" name="Google Shape;98;p19"/>
          <p:cNvCxnSpPr>
            <a:stCxn id="92" idx="1"/>
            <a:endCxn id="93" idx="1"/>
          </p:cNvCxnSpPr>
          <p:nvPr/>
        </p:nvCxnSpPr>
        <p:spPr>
          <a:xfrm>
            <a:off x="696923" y="1291524"/>
            <a:ext cx="600" cy="6300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99" name="Google Shape;99;p19"/>
          <p:cNvCxnSpPr>
            <a:stCxn id="93" idx="1"/>
            <a:endCxn id="94" idx="1"/>
          </p:cNvCxnSpPr>
          <p:nvPr/>
        </p:nvCxnSpPr>
        <p:spPr>
          <a:xfrm>
            <a:off x="696923" y="1921437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9"/>
          <p:cNvCxnSpPr>
            <a:stCxn id="94" idx="1"/>
            <a:endCxn id="95" idx="1"/>
          </p:cNvCxnSpPr>
          <p:nvPr/>
        </p:nvCxnSpPr>
        <p:spPr>
          <a:xfrm>
            <a:off x="696923" y="2561656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9"/>
          <p:cNvCxnSpPr/>
          <p:nvPr/>
        </p:nvCxnSpPr>
        <p:spPr>
          <a:xfrm>
            <a:off x="696923" y="3232828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9"/>
          <p:cNvCxnSpPr/>
          <p:nvPr/>
        </p:nvCxnSpPr>
        <p:spPr>
          <a:xfrm>
            <a:off x="696923" y="3903996"/>
            <a:ext cx="600" cy="640200"/>
          </a:xfrm>
          <a:prstGeom prst="curvedConnector3">
            <a:avLst>
              <a:gd name="adj1" fmla="val -39687500"/>
            </a:avLst>
          </a:prstGeom>
          <a:noFill/>
          <a:ln w="19050" cap="flat" cmpd="sng">
            <a:solidFill>
              <a:srgbClr val="013D85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/>
        </p:nvSpPr>
        <p:spPr>
          <a:xfrm>
            <a:off x="494775" y="455606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Цели проекта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08" name="Google Shape;108;p20"/>
          <p:cNvGraphicFramePr/>
          <p:nvPr>
            <p:extLst>
              <p:ext uri="{D42A27DB-BD31-4B8C-83A1-F6EECF244321}">
                <p14:modId xmlns:p14="http://schemas.microsoft.com/office/powerpoint/2010/main" val="3729435207"/>
              </p:ext>
            </p:extLst>
          </p:nvPr>
        </p:nvGraphicFramePr>
        <p:xfrm>
          <a:off x="952500" y="1495076"/>
          <a:ext cx="7239000" cy="2843318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036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latin typeface="Roboto"/>
                        </a:rPr>
                        <a:t>Проектирование и моделирование отказоустойчивой сетевой архитектуры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CLOS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dirty="0" smtClean="0">
                          <a:latin typeface="Roboto"/>
                        </a:rPr>
                        <a:t>закрытого </a:t>
                      </a:r>
                      <a:r>
                        <a:rPr lang="ru-RU" dirty="0">
                          <a:latin typeface="Roboto"/>
                        </a:rPr>
                        <a:t>сетевого сегмента с использованием VXLAN\EVPN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для ПАК накопления статистической информации и содержимого </a:t>
                      </a:r>
                      <a:r>
                        <a:rPr lang="ru-RU" dirty="0" smtClean="0">
                          <a:latin typeface="Roboto"/>
                        </a:rPr>
                        <a:t>в ЦОД.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036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Объединение </a:t>
                      </a:r>
                      <a:r>
                        <a:rPr lang="ru-RU" dirty="0" smtClean="0">
                          <a:latin typeface="Roboto"/>
                        </a:rPr>
                        <a:t>VXLAN\EVPN фабрик отдельных </a:t>
                      </a:r>
                      <a:r>
                        <a:rPr lang="ru-RU" dirty="0" err="1" smtClean="0">
                          <a:latin typeface="Roboto"/>
                        </a:rPr>
                        <a:t>георазнесенных</a:t>
                      </a:r>
                      <a:r>
                        <a:rPr lang="ru-RU" dirty="0" smtClean="0">
                          <a:latin typeface="Roboto"/>
                        </a:rPr>
                        <a:t> ЦОД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в топологию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Multisite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с возможностью бесшовного масштабирования на большее количество ЦОД</a:t>
                      </a:r>
                      <a:r>
                        <a:rPr lang="ru-RU" dirty="0" smtClean="0">
                          <a:latin typeface="Roboto"/>
                        </a:rPr>
                        <a:t>.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5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Обеспечение</a:t>
                      </a:r>
                      <a:r>
                        <a:rPr lang="ru-RU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L2/L3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связности для хостов конечных устройств расположенных в одном </a:t>
                      </a:r>
                      <a:r>
                        <a:rPr lang="ru-RU" sz="14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ЦОДе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ru-RU" sz="14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а также разнесенных между </a:t>
                      </a:r>
                      <a:r>
                        <a:rPr lang="ru-RU" sz="1400" b="0" i="0" u="none" strike="noStrike" cap="none" baseline="0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ЦОДами</a:t>
                      </a:r>
                      <a:r>
                        <a:rPr lang="en-US" dirty="0" smtClean="0">
                          <a:latin typeface="Roboto"/>
                        </a:rPr>
                        <a:t>.</a:t>
                      </a:r>
                      <a:endParaRPr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планировалось</a:t>
            </a:r>
            <a:endParaRPr sz="3000"/>
          </a:p>
        </p:txBody>
      </p:sp>
      <p:graphicFrame>
        <p:nvGraphicFramePr>
          <p:cNvPr id="115" name="Google Shape;115;p21"/>
          <p:cNvGraphicFramePr/>
          <p:nvPr>
            <p:extLst>
              <p:ext uri="{D42A27DB-BD31-4B8C-83A1-F6EECF244321}">
                <p14:modId xmlns:p14="http://schemas.microsoft.com/office/powerpoint/2010/main" val="2958810732"/>
              </p:ext>
            </p:extLst>
          </p:nvPr>
        </p:nvGraphicFramePr>
        <p:xfrm>
          <a:off x="952500" y="1054565"/>
          <a:ext cx="7239000" cy="3744044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9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1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Проектирование и настройка отказоустойчивой сетевой топологии для двух ЦОД объединенных в топологию 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Multisite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с возможностью бесшовного расширения на большее количество ЦОД;</a:t>
                      </a:r>
                      <a:endParaRPr sz="11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78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100" b="1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Проектирование и настройка DCI 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interconnect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1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64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1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1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Проектирование и настройка сетевых протоколов обеспечивающих оптимальную загрузку линий связи, балансировку трафика, безопасность и быструю сходимость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Roboto"/>
                        </a:rPr>
                        <a:t>;</a:t>
                      </a:r>
                      <a:endParaRPr sz="11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lang="ru" sz="11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Обеспечение L2 внутрисетевой связности между конечными устройствами внутри ЦОД и в разнесенных ЦОД-ах;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650183"/>
                  </a:ext>
                </a:extLst>
              </a:tr>
              <a:tr h="4129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1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Обеспечение L3 межсетевой связности между конечными устройствами в разнесенных ЦОД-ах;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5394531"/>
                  </a:ext>
                </a:extLst>
              </a:tr>
              <a:tr h="71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1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Обеспечение L3 межсетевой связности между рабочим местом Технической поддержки ПАК,</a:t>
                      </a:r>
                      <a:r>
                        <a:rPr lang="ru-RU" sz="11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расположенного в ЦОД 52,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до конечных устройств расположенных в локальном и удаленном ЦОД-ах в изолированном 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vrf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«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vrf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-MGMT»;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375946"/>
                  </a:ext>
                </a:extLst>
              </a:tr>
              <a:tr h="5196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1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Обеспечение L3 межсетевой связности между рабочим местом Пользователя ПАК,</a:t>
                      </a:r>
                      <a:r>
                        <a:rPr lang="ru-RU" sz="11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расположенного в ЦОД 52,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до конечных устройств расположенных в локальном и удаленном ЦОД-ах в изолированном 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vrf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 «</a:t>
                      </a:r>
                      <a:r>
                        <a:rPr lang="ru-RU" sz="11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vrf</a:t>
                      </a:r>
                      <a:r>
                        <a:rPr lang="ru-RU" sz="11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-DATA».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1809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Используемые технологии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22" name="Google Shape;122;p22"/>
          <p:cNvGraphicFramePr/>
          <p:nvPr>
            <p:extLst>
              <p:ext uri="{D42A27DB-BD31-4B8C-83A1-F6EECF244321}">
                <p14:modId xmlns:p14="http://schemas.microsoft.com/office/powerpoint/2010/main" val="3742309391"/>
              </p:ext>
            </p:extLst>
          </p:nvPr>
        </p:nvGraphicFramePr>
        <p:xfrm>
          <a:off x="687580" y="974469"/>
          <a:ext cx="7239000" cy="3761967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9890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Для реализации VXLAN EVPN фабрики в ЦОД 52: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Underlay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протокол динамической маршрутизации OSPF. 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линках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интерконнекта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network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point-to-point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. На портах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интерконнекта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включен протокол BFD. Настроена аутентификация. MTU увеличен до 9000;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Overlay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протокол динамической маршрутизации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iBGP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с включенной опцией балансировки трафика.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dirty="0" smtClean="0">
                          <a:latin typeface="Roboto"/>
                        </a:rPr>
                        <a:t>4200052101. На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Spine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1/2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настроены в качестве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RR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фабрики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ЦОДа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52.</a:t>
                      </a:r>
                      <a:endParaRPr lang="ru-RU"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Arial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90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2.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Для реализации VXLAN EVPN фабрики в ЦОД 63: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Underlay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протокол динамической маршрутизации IS-IS. 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линках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интерконнекта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network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point-to-point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. На портах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интерконнекта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включен протокол BFD. Настроена аутентификация. MTU увеличен до 9000;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На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Overlay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используется протокол динамической маршрутизации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iBGP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с включенной опцией балансировки трафика.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4200063101. На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Spine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1/2 настроены в качестве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RR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фабрики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ЦОДа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52.</a:t>
                      </a: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9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Для реализации топологии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Multisite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на каждом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ЦОДе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устанавливаются пары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BGW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. С целью последующего масштабирования и исключения потребности в организации дополнительных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межЦОДовых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каналов реализации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full‑mesh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топологии, схема реализации дополнена элементом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Route Server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.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Д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ля обеспечения резервирования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Route Server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дублируется, с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разнесением между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ЦОДами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. На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DCI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sym typeface="Arial"/>
                        </a:rPr>
                        <a:t>используется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sym typeface="Arial"/>
                        </a:rPr>
                        <a:t>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протокол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динамической маршрутизации </a:t>
                      </a:r>
                      <a:r>
                        <a:rPr lang="en-US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eBGP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с включенной опцией балансировки трафика,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настроена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BGP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аутентификация. На стороне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Route Server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-ах используется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AS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dirty="0" smtClean="0"/>
                        <a:t>4200000000, включена опция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next-hop-unchanged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для отключения подмены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next-hop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IP Loopback BGW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 ЦОД-ах</a:t>
                      </a:r>
                      <a:r>
                        <a:rPr lang="ru-RU" sz="1000" dirty="0" smtClean="0"/>
                        <a:t>. </a:t>
                      </a:r>
                      <a:endParaRPr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Используемые технологии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22" name="Google Shape;122;p22"/>
          <p:cNvGraphicFramePr/>
          <p:nvPr>
            <p:extLst>
              <p:ext uri="{D42A27DB-BD31-4B8C-83A1-F6EECF244321}">
                <p14:modId xmlns:p14="http://schemas.microsoft.com/office/powerpoint/2010/main" val="2633113962"/>
              </p:ext>
            </p:extLst>
          </p:nvPr>
        </p:nvGraphicFramePr>
        <p:xfrm>
          <a:off x="687580" y="854579"/>
          <a:ext cx="7239000" cy="3403630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395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изоляции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подсетей: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Управления, мониторинга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 подключения рабочего места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Технической поддержки ПАК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элементах 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BGW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ЦОДах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создан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«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-MGMT»;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Передачи данных между элементами ПАК и подключения рабочего места Пользователя ПАК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элементах 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BGW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ЦОДах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создан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«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DATA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».</a:t>
                      </a:r>
                      <a:endParaRPr sz="1000" b="0" i="0" u="none" strike="noStrike" cap="none" baseline="0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777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="1" u="sng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маршрутизируемых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подсетей в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«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-MGMT»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и в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«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DATA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» 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-ах и </a:t>
                      </a:r>
                      <a:r>
                        <a:rPr lang="en-US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BGW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ЦОДов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</a:p>
                    <a:p>
                      <a:pPr marL="171450" lvl="0" indent="-171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настроены L2VNI обеспечивающие L2 транспорт для конечных хостов внутри ЦОД; </a:t>
                      </a:r>
                    </a:p>
                    <a:p>
                      <a:pPr marL="171450" lvl="0" indent="-171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настроены L3VNI обеспечивающие L3 транспорт и маршрутизацию подсетей конечных устройств, в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разнесенных </a:t>
                      </a:r>
                      <a:r>
                        <a:rPr lang="ru-RU" sz="10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ЦОДах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, а так же до рабочих мест 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Технической поддержки и Пользователя ПАК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171450" lvl="0" indent="-1714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-ах и на </a:t>
                      </a:r>
                      <a:r>
                        <a:rPr lang="en-US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BGW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настроен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Anycast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Gateway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присоединенных подсетей конечных устройств.</a:t>
                      </a:r>
                      <a:endParaRPr lang="ru-RU" sz="10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8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0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</a:t>
                      </a:r>
                      <a:r>
                        <a:rPr lang="ru-RU" sz="1000" b="1" i="0" u="sng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</a:t>
                      </a:r>
                      <a:r>
                        <a:rPr lang="ru-RU" sz="1000" b="1" u="sng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маршрутизируемой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подсети 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в 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 «</a:t>
                      </a:r>
                      <a:r>
                        <a:rPr lang="ru-RU" sz="1000" b="0" i="0" u="none" strike="noStrike" cap="none" baseline="0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vrf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-</a:t>
                      </a:r>
                      <a:r>
                        <a:rPr lang="en-US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DATA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Arial"/>
                        </a:rPr>
                        <a:t>» 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-ах и </a:t>
                      </a:r>
                      <a:r>
                        <a:rPr lang="en-US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BGW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ЦОДов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для 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обеспечения L2 транспорта для конечных хостов внутри и между </a:t>
                      </a:r>
                      <a:r>
                        <a:rPr lang="ru-RU" sz="10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ЦОДами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настроены L2VNI,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включен функционал импортирования/экспортирования </a:t>
                      </a:r>
                      <a:r>
                        <a:rPr lang="en-US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EVPN‑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маршрутов из/в </a:t>
                      </a:r>
                      <a:r>
                        <a:rPr lang="en-US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EVPN</a:t>
                      </a:r>
                      <a:r>
                        <a:rPr lang="ru-RU" sz="10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-домен</a:t>
                      </a:r>
                      <a:r>
                        <a:rPr lang="ru-RU" sz="10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;</a:t>
                      </a:r>
                      <a:endParaRPr lang="ru-RU" sz="1000" b="0" i="0" u="none" strike="noStrike" cap="none" dirty="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88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7.</a:t>
                      </a:r>
                      <a:endParaRPr sz="10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обеспечения резервирования физических подключений конечных устройств и коммутатора доступа к </a:t>
                      </a:r>
                      <a:r>
                        <a:rPr lang="en-US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VxLAN</a:t>
                      </a:r>
                      <a:r>
                        <a:rPr lang="ru-RU" sz="1000" b="0" i="0" u="none" strike="noStrike" cap="none" baseline="0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фабрике используется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технология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Multihoming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путем объединения пар </a:t>
                      </a:r>
                      <a:r>
                        <a:rPr lang="ru-RU" sz="1000" b="0" i="0" u="none" strike="noStrike" cap="none" dirty="0" err="1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Leaf-ов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и </a:t>
                      </a:r>
                      <a:r>
                        <a:rPr lang="en-US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BGW</a:t>
                      </a:r>
                      <a:r>
                        <a:rPr lang="ru-RU" sz="1000" b="0" i="0" u="none" strike="noStrike" cap="none" dirty="0" smtClean="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в ESI LAG.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237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9729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315412" y="67298"/>
            <a:ext cx="3936214" cy="547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 smtClean="0"/>
              <a:t>Схемы/архитектура</a:t>
            </a:r>
            <a:endParaRPr sz="3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09" y="665435"/>
            <a:ext cx="7059857" cy="4120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201447" y="91442"/>
            <a:ext cx="8520600" cy="662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" sz="3000" dirty="0"/>
              <a:t>Что </a:t>
            </a:r>
            <a:r>
              <a:rPr lang="ru" sz="3000" dirty="0" smtClean="0"/>
              <a:t>получилось</a:t>
            </a:r>
            <a:endParaRPr sz="3000" dirty="0"/>
          </a:p>
        </p:txBody>
      </p:sp>
      <p:sp>
        <p:nvSpPr>
          <p:cNvPr id="130" name="Google Shape;130;p23"/>
          <p:cNvSpPr txBox="1"/>
          <p:nvPr/>
        </p:nvSpPr>
        <p:spPr>
          <a:xfrm>
            <a:off x="201447" y="1321229"/>
            <a:ext cx="8082368" cy="3746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RouteServer-1#sh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bgp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evpn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summary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BGP summary information for VRF default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Router identifier 10.52.0.0, local AS number 4200000000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Neighbor Status Codes: m - Under maintenance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Description              Neighbor    V AS          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MsgRcvd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MsgSent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InQ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OutQ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Up/Down State  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PfxRcd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PfxAcc</a:t>
            </a:r>
            <a:endParaRPr lang="en-US" sz="8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BGWs                     10.52.1.253 4 4200052101     11743     11863    0    0 13:48:08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BGWs                     10.52.1.255 4 4200052101     11740     11845    0    0 11:15:23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BGWs                     10.63.1.253 4 4200063101     13571     10758    0    0 11:57:32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BGWs                     10.63.1.255 4 4200063101     13472     10679    0    0 11:42:24 </a:t>
            </a:r>
            <a:r>
              <a:rPr lang="en-US" sz="800" dirty="0" err="1" smtClean="0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 smtClean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endParaRPr lang="en-US" sz="800" dirty="0" smtClean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RouteServer-1#sh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bgp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evpn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summary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BGP summary information for VRF default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Router identifier 10.52.0.0, local AS number 4200000000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Neighbor Status Codes: m - Under maintenance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Description              Neighbor    V AS          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MsgRcvd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MsgSent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InQ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OutQ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Up/Down State  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PfxRcd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PfxAcc</a:t>
            </a:r>
            <a:endParaRPr lang="en-US" sz="8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BGWs                     10.52.1.253 4 4200052101     11743     11863    0    0 13:48:08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BGWs                     10.52.1.255 4 4200052101     11740     11845    0    0 11:15:23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BGWs                     10.63.1.253 4 4200063101     13571     10758    0    0 11:57:32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BGWs                     10.63.1.255 4 4200063101     13472     10679    0    0 11:42:24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Estab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10     10</a:t>
            </a:r>
          </a:p>
          <a:p>
            <a:pPr marL="139700" lvl="0">
              <a:buSzPts val="1400"/>
            </a:pPr>
            <a:endParaRPr lang="en-US" sz="8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RouteServer-1#show </a:t>
            </a:r>
            <a:r>
              <a:rPr lang="en-US" sz="800" dirty="0" err="1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route</a:t>
            </a:r>
          </a:p>
          <a:p>
            <a:pPr marL="139700" lvl="0">
              <a:buSzPts val="1400"/>
            </a:pPr>
            <a:endParaRPr lang="en-US" sz="8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C        10.52.0.0/32 is directly connected, Loopback0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10.52.0.98/32 [200/0] via 10.52.1.253, Ethernet1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via 10.52.1.255, Ethernet2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10.52.0.99/32 [200/0] via 10.52.1.253, Ethernet1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via 10.52.1.255, Ethernet2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10.52.0.198/32 [200/0] via 10.52.1.253, Ethernet1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 via 10.52.1.255, Ethernet2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10.52.0.199/32 [200/0] via 10.52.1.253, Ethernet1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 via 10.52.1.255, Ethernet2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C        10.52.1.252/31 is directly connected, Ethernet1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C        10.52.1.254/31 is directly connected, Ethernet2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10.63.0.98/32 [200/0] via 10.63.1.253, Ethernet3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via 10.63.1.255, Ethernet4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10.63.0.99/32 [200/0] via 10.63.1.253, Ethernet3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via 10.63.1.255, Ethernet4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10.63.0.198/32 [200/0] via 10.63.1.253, Ethernet3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 via 10.63.1.255, Ethernet4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B E      10.63.0.199/32 [200/0] via 10.63.1.253, Ethernet3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                                via 10.63.1.255, Ethernet4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C        10.63.1.252/31 is directly connected, Ethernet3</a:t>
            </a:r>
          </a:p>
          <a:p>
            <a:pPr marL="139700" lvl="0">
              <a:buSzPts val="1400"/>
            </a:pPr>
            <a:r>
              <a:rPr lang="en-US" sz="800" dirty="0">
                <a:latin typeface="Roboto"/>
                <a:ea typeface="Roboto"/>
                <a:cs typeface="Roboto"/>
                <a:sym typeface="Roboto"/>
              </a:rPr>
              <a:t>C        10.63.1.254/31 is directly connected, Ethernet4</a:t>
            </a:r>
            <a:endParaRPr sz="8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201447" y="674899"/>
            <a:ext cx="76989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/>
              <a:t>В презентации представлена часть диагностики с лабораторного стенда.</a:t>
            </a:r>
          </a:p>
          <a:p>
            <a:r>
              <a:rPr lang="ru-RU" sz="1200" dirty="0" smtClean="0"/>
              <a:t>Развернутая диагностика представлена в публикации на </a:t>
            </a:r>
            <a:r>
              <a:rPr lang="en-US" sz="1200" dirty="0" err="1" smtClean="0"/>
              <a:t>Githab</a:t>
            </a:r>
            <a:r>
              <a:rPr lang="ru-RU" sz="1200" dirty="0"/>
              <a:t>:</a:t>
            </a:r>
            <a:endParaRPr lang="en-US" sz="1200" dirty="0" smtClean="0"/>
          </a:p>
          <a:p>
            <a:r>
              <a:rPr lang="ru-RU" sz="1200" dirty="0" smtClean="0"/>
              <a:t>https</a:t>
            </a:r>
            <a:r>
              <a:rPr lang="ru-RU" sz="1200" dirty="0"/>
              <a:t>://</a:t>
            </a:r>
            <a:r>
              <a:rPr lang="ru-RU" sz="1200" dirty="0">
                <a:latin typeface="Roboto"/>
              </a:rPr>
              <a:t>github.com/tyomasnn/OTUS-DC-Networks-design/tree/main/Labs/Project</a:t>
            </a:r>
          </a:p>
        </p:txBody>
      </p:sp>
    </p:spTree>
    <p:extLst>
      <p:ext uri="{BB962C8B-B14F-4D97-AF65-F5344CB8AC3E}">
        <p14:creationId xmlns:p14="http://schemas.microsoft.com/office/powerpoint/2010/main" val="3333524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350378" y="333286"/>
            <a:ext cx="8554339" cy="464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BGW1-52#show interfaces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Vxlan1 is up, line protocol is up (connected)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Hardware is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Vxlan</a:t>
            </a: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Source interface is Loopback1 and is active with 10.52.0.198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Listening on UDP port 4789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Replication/Flood Mode is headend with Flood List Source: EVPN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Remote MAC learning via EVPN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VNI mapping to VLANs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Static VLAN to VNI mapping is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[254, 1254]       [255, 1255]       [374, 1374]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Dynamic VLAN to VNI mapping for '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evpn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' is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[4093, 10019]     [4094, 10015]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Note: All Dynamic VLANs used by VCS are internal VLANs.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 Use 'show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vxlan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vni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' for details.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Static VRF to VNI mapping is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[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-DATA, 10019]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[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-MGMT, 10015]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Headend replication flood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vtep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list is: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254 10.52.0.199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255 10.52.0.199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374 10.52.0.111     10.52.0.112     10.52.0.113     10.52.0.114     10.52.0.199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10.63.0.199     10.63.0.198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Shared Router MAC is 0000.0000.0000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VTEP to VTEP bridging to remote domain is enabled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219976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668525" y="478564"/>
            <a:ext cx="8287468" cy="4169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40000" lnSpcReduction="20000"/>
          </a:bodyPr>
          <a:lstStyle/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BGW1-52#show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route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-MGMT</a:t>
            </a:r>
          </a:p>
          <a:p>
            <a:pPr marL="139700" lvl="0">
              <a:buSzPts val="1400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VRF: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-MGMT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Codes: C - connected, S - static, K - kernel,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O - OSPF, IA - OSPF inter area, E1 - OSPF external type 1,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E2 - OSPF external type 2, N1 - OSPF NSSA external type 1,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N2 - OSPF NSSA external type2, B - Other BGP Routes,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B I -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iBGP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, B E -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eBGP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, R - RIP, I L1 - IS-IS level 1,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I L2 - IS-IS level 2, O3 - OSPFv3, A B - BGP Aggregate,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A O - OSPF Summary, NG -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Nexthop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Group Static Route,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V - VXLAN Control Service, M - Martian,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DH - DHCP client installed default route,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DP - Dynamic Policy Route, L - VRF Leaked,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G  - </a:t>
            </a:r>
            <a:r>
              <a:rPr lang="en-US" dirty="0" err="1">
                <a:latin typeface="Roboto"/>
                <a:ea typeface="Roboto"/>
                <a:cs typeface="Roboto"/>
                <a:sym typeface="Roboto"/>
              </a:rPr>
              <a:t>gRIBI</a:t>
            </a: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, RC - Route Cache Route</a:t>
            </a:r>
          </a:p>
          <a:p>
            <a:pPr marL="139700" lvl="0">
              <a:buSzPts val="1400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Gateway of last resort is not set</a:t>
            </a:r>
          </a:p>
          <a:p>
            <a:pPr marL="139700" lvl="0">
              <a:buSzPts val="1400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I      192.168.52.11/32 [200/0] via VTEP 10.52.0.112 VNI 10015 router-mac 50:00:00:03:37:66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I      192.168.52.12/32 [200/0] via VTEP 10.52.0.112 VNI 10015 router-mac 50:00:00:03:37:66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I      192.168.52.13/32 [200/0] via VTEP 10.52.0.114 VNI 10015 router-mac 50:00:00:c6:63:96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I      192.168.52.14/32 [200/0] via VTEP 10.52.0.114 VNI 10015 router-mac 50:00:00:c6:63:96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I      192.168.52.0/24 [200/0] via VTEP 10.52.0.113 VNI 10015 router-mac 50:00:00:15:f4:e8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                                 via VTEP 10.52.0.114 VNI 10015 router-mac 50:00:00:c6:63:96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B E      192.168.63.0/24 [200/0] via VTEP 10.63.0.198 VNI 10015 router-mac 50:00:00:2c:6b:2e local-interface Vxlan1</a:t>
            </a:r>
          </a:p>
          <a:p>
            <a:pPr marL="139700" lvl="0">
              <a:buSzPts val="1400"/>
            </a:pPr>
            <a:r>
              <a:rPr lang="en-US" dirty="0">
                <a:latin typeface="Roboto"/>
                <a:ea typeface="Roboto"/>
                <a:cs typeface="Roboto"/>
                <a:sym typeface="Roboto"/>
              </a:rPr>
              <a:t>C        192.168.255.0/24 is directly connected, Vlan255</a:t>
            </a:r>
          </a:p>
          <a:p>
            <a:pPr marL="139700" lvl="0">
              <a:buSzPts val="1400"/>
            </a:pPr>
            <a:endParaRPr lang="en-US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BGW1-52#show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ip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route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-DATA</a:t>
            </a:r>
          </a:p>
          <a:p>
            <a:pPr marL="139700" lvl="0">
              <a:buSzPts val="1400"/>
            </a:pPr>
            <a:endParaRPr lang="en-US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VRF: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-DATA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Codes: C - connected, S - static, K - kernel,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O - OSPF, IA - OSPF inter area, E1 - OSPF external type 1,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E2 - OSPF external type 2, N1 - OSPF NSSA external type 1,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N2 - OSPF NSSA external type2, B - Other BGP Routes,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B I -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iBGP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, B E -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eBGP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, R - RIP, I L1 - IS-IS level 1,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I L2 - IS-IS level 2, O3 - OSPFv3, A B - BGP Aggregate,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A O - OSPF Summary, NG -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Nexthop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Group Static Route,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V - VXLAN Control Service, M - Martian,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DH - DHCP client installed default route,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DP - Dynamic Policy Route, L - VRF Leaked,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G  - </a:t>
            </a:r>
            <a:r>
              <a:rPr lang="en-US" dirty="0" err="1" smtClean="0">
                <a:latin typeface="Roboto"/>
                <a:ea typeface="Roboto"/>
                <a:cs typeface="Roboto"/>
                <a:sym typeface="Roboto"/>
              </a:rPr>
              <a:t>gRIBI</a:t>
            </a: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, RC - Route Cache Route</a:t>
            </a:r>
          </a:p>
          <a:p>
            <a:pPr marL="139700" lvl="0">
              <a:buSzPts val="1400"/>
            </a:pPr>
            <a:endParaRPr lang="en-US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Gateway of last resort is not set</a:t>
            </a:r>
          </a:p>
          <a:p>
            <a:pPr marL="139700" lvl="0">
              <a:buSzPts val="1400"/>
            </a:pPr>
            <a:endParaRPr lang="en-US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 I      192.168.152.11/32 [200/0] via VTEP 10.52.0.112 VNI 10019 router-mac 50:00:00:03:37:66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 I      192.168.152.13/32 [200/0] via VTEP 10.52.0.114 VNI 10019 router-mac 50:00:00:c6:63:96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 I      192.168.152.14/32 [200/0] via VTEP 10.52.0.114 VNI 10019 router-mac 50:00:00:c6:63:96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 I      192.168.152.0/24 [200/0] via VTEP 10.52.0.111 VNI 10019 router-mac 50:00:00:d5:5d:c0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                            via VTEP 10.52.0.113 VNI 10019 router-mac 50:00:00:15:f4:e8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                            via VTEP 10.52.0.112 VNI 10019 router-mac 50:00:00:03:37:66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                                  via VTEP 10.52.0.114 VNI 10019 router-mac 50:00:00:c6:63:96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B E      192.168.163.0/24 [200/0] via VTEP 10.63.0.198 VNI 10019 router-mac 50:00:00:2c:6b:2e local-interface Vxlan1</a:t>
            </a:r>
          </a:p>
          <a:p>
            <a:pPr marL="139700" lvl="0">
              <a:buSzPts val="1400"/>
            </a:pPr>
            <a:r>
              <a:rPr lang="en-US" dirty="0" smtClean="0">
                <a:latin typeface="Roboto"/>
                <a:ea typeface="Roboto"/>
                <a:cs typeface="Roboto"/>
                <a:sym typeface="Roboto"/>
              </a:rPr>
              <a:t>C        192.168.254.0/24 is directly connected, Vlan254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03208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427290" y="273465"/>
            <a:ext cx="8477427" cy="468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/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Leaf1-52#sh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lacp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count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                     LACPDUs       Markers         Marker Response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Port    Status      RX     TX     RX      TX          RX          TX   Illegal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------- ---------- ------ ------ ------ ------- ----------- ----------- -------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Port Channel Port-Channel1: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Et7     Bundled    393    358      0       0           0           0         0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Port Channel Port-Channel2: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Et8     Bundled    394    361      0       0           0           0         0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Leaf2-52#sh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lacp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count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                     LACPDUs       Markers         Marker Response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Port    Status      RX     TX     RX      TX          RX          TX   Illegal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------- ---------- ------ ------ ------ ------- ----------- ----------- -------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Port Channel Port-Channel1: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Et7     Bundled    407    375      0       0           0           0         0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Port Channel Port-Channel2: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Et8     Bundled    398    375      0       0           0           0         </a:t>
            </a: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0</a:t>
            </a: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ru-RU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/>
              <a:t>Server1-52#sh </a:t>
            </a:r>
            <a:r>
              <a:rPr lang="en-US" sz="1100" dirty="0" err="1"/>
              <a:t>lacp</a:t>
            </a:r>
            <a:r>
              <a:rPr lang="en-US" sz="1100" dirty="0"/>
              <a:t> count</a:t>
            </a:r>
          </a:p>
          <a:p>
            <a:pPr marL="139700" lvl="0">
              <a:buSzPts val="1400"/>
            </a:pPr>
            <a:r>
              <a:rPr lang="en-US" sz="1100" dirty="0"/>
              <a:t>                      LACPDUs       Markers         Marker Response</a:t>
            </a:r>
          </a:p>
          <a:p>
            <a:pPr marL="139700" lvl="0">
              <a:buSzPts val="1400"/>
            </a:pPr>
            <a:r>
              <a:rPr lang="en-US" sz="1100" dirty="0"/>
              <a:t> Port    Status      RX     TX     RX      TX          RX          TX   Illegal</a:t>
            </a:r>
          </a:p>
          <a:p>
            <a:pPr marL="139700" lvl="0">
              <a:buSzPts val="1400"/>
            </a:pPr>
            <a:r>
              <a:rPr lang="en-US" sz="1100" dirty="0"/>
              <a:t>------- ---------- ------ ------ ------ ------- ----------- ----------- -------</a:t>
            </a:r>
          </a:p>
          <a:p>
            <a:pPr marL="139700" lvl="0">
              <a:buSzPts val="1400"/>
            </a:pPr>
            <a:r>
              <a:rPr lang="en-US" sz="1100" dirty="0"/>
              <a:t>Port Channel Port-Channel1:</a:t>
            </a:r>
          </a:p>
          <a:p>
            <a:pPr marL="139700" lvl="0">
              <a:buSzPts val="1400"/>
            </a:pPr>
            <a:r>
              <a:rPr lang="en-US" sz="1100" dirty="0"/>
              <a:t> Et1     Bundled    357    854      0       0           0           0         0</a:t>
            </a:r>
          </a:p>
          <a:p>
            <a:pPr marL="139700" lvl="0">
              <a:buSzPts val="1400"/>
            </a:pPr>
            <a:r>
              <a:rPr lang="en-US" sz="1100" dirty="0"/>
              <a:t> Et2     Bundled    373    911      0       0           0           0         0</a:t>
            </a:r>
            <a:br>
              <a:rPr lang="en-US" sz="1100" dirty="0"/>
            </a:br>
            <a:endParaRPr lang="ru-RU" sz="1100" dirty="0" smtClean="0"/>
          </a:p>
          <a:p>
            <a:pPr marL="139700" lvl="0">
              <a:buSzPts val="1400"/>
            </a:pPr>
            <a:r>
              <a:rPr lang="en-US" sz="1100" dirty="0" smtClean="0"/>
              <a:t>Server2-52#sh </a:t>
            </a:r>
            <a:r>
              <a:rPr lang="en-US" sz="1100" dirty="0" err="1"/>
              <a:t>lacp</a:t>
            </a:r>
            <a:r>
              <a:rPr lang="en-US" sz="1100" dirty="0"/>
              <a:t> count</a:t>
            </a:r>
          </a:p>
          <a:p>
            <a:pPr marL="139700" lvl="0">
              <a:buSzPts val="1400"/>
            </a:pPr>
            <a:r>
              <a:rPr lang="en-US" sz="1100" dirty="0"/>
              <a:t>                      LACPDUs       Markers         Marker Response</a:t>
            </a:r>
          </a:p>
          <a:p>
            <a:pPr marL="139700" lvl="0">
              <a:buSzPts val="1400"/>
            </a:pPr>
            <a:r>
              <a:rPr lang="en-US" sz="1100" dirty="0"/>
              <a:t> Port    Status      RX     TX     RX      TX          RX          TX   Illegal</a:t>
            </a:r>
          </a:p>
          <a:p>
            <a:pPr marL="139700" lvl="0">
              <a:buSzPts val="1400"/>
            </a:pPr>
            <a:r>
              <a:rPr lang="en-US" sz="1100" dirty="0"/>
              <a:t>------- ---------- ------ ------ ------ ------- ----------- ----------- -------</a:t>
            </a:r>
          </a:p>
          <a:p>
            <a:pPr marL="139700" lvl="0">
              <a:buSzPts val="1400"/>
            </a:pPr>
            <a:r>
              <a:rPr lang="en-US" sz="1100" dirty="0"/>
              <a:t>Port Channel Port-Channel1:</a:t>
            </a:r>
          </a:p>
          <a:p>
            <a:pPr marL="139700" lvl="0">
              <a:buSzPts val="1400"/>
            </a:pPr>
            <a:r>
              <a:rPr lang="en-US" sz="1100" dirty="0"/>
              <a:t> Et1     Bundled    363    748      0       0           0           0         0</a:t>
            </a:r>
          </a:p>
          <a:p>
            <a:pPr marL="139700" lvl="0">
              <a:buSzPts val="1400"/>
            </a:pPr>
            <a:r>
              <a:rPr lang="en-US" sz="1100" dirty="0"/>
              <a:t> Et2     Bundled    375    801      0       0           0           0         </a:t>
            </a:r>
            <a:r>
              <a:rPr lang="en-US" sz="1100" dirty="0" smtClean="0"/>
              <a:t>0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323376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427290" y="230202"/>
            <a:ext cx="8477427" cy="468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139700" lvl="0">
              <a:buSzPts val="1400"/>
            </a:pPr>
            <a:r>
              <a:rPr lang="ru-RU" sz="1100" b="1" dirty="0" smtClean="0">
                <a:latin typeface="Roboto"/>
                <a:ea typeface="Roboto"/>
                <a:cs typeface="Roboto"/>
                <a:sym typeface="Roboto"/>
              </a:rPr>
              <a:t>«ЦОД 52»</a:t>
            </a:r>
            <a:endParaRPr lang="en-US" sz="1100" b="1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192.168.52.11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192.168.52.11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time=327.821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192.168.52.12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192.168.52.12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time=390.188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192.168.52.13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192.168.52.13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time=170.953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192.168.52.14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192.168.52.14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time=257.449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ru-RU" sz="1100" b="1" dirty="0" smtClean="0">
                <a:latin typeface="Roboto"/>
                <a:ea typeface="Roboto"/>
                <a:cs typeface="Roboto"/>
                <a:sym typeface="Roboto"/>
              </a:rPr>
              <a:t>«ЦОД 63»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192.168.63.11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192.168.63.11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time=323.153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192.168.63.12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192.168.63.12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time=233.800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192.168.63.13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192.168.63.13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time=251.014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Support-PC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192.168.63.14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192.168.63.14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time=223.986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  <a:endParaRPr lang="ru-RU" sz="11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Google Shape;108;p20">
            <a:extLst>
              <a:ext uri="{FF2B5EF4-FFF2-40B4-BE49-F238E27FC236}">
                <a16:creationId xmlns:a16="http://schemas.microsoft.com/office/drawing/2014/main" id="{308A74A6-A97F-46B4-B7F4-604BA21E1F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65202190"/>
              </p:ext>
            </p:extLst>
          </p:nvPr>
        </p:nvGraphicFramePr>
        <p:xfrm>
          <a:off x="4666003" y="230202"/>
          <a:ext cx="3645700" cy="3547842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364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9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наличия </a:t>
                      </a:r>
                      <a:r>
                        <a:rPr lang="en-US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IP </a:t>
                      </a: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связности по </a:t>
                      </a:r>
                      <a:r>
                        <a:rPr lang="en-US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L3 </a:t>
                      </a:r>
                      <a:r>
                        <a:rPr lang="ru-RU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Рабочего места 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Технической поддержки ПАК (</a:t>
                      </a:r>
                      <a:r>
                        <a:rPr lang="en-US" sz="1200" dirty="0" smtClean="0">
                          <a:latin typeface="Roboto"/>
                        </a:rPr>
                        <a:t>Support-PC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) в ЦОД 52</a:t>
                      </a:r>
                      <a:r>
                        <a:rPr lang="ru-RU" sz="12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Roboto"/>
                        </a:rPr>
                        <a:t> </a:t>
                      </a: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</a:t>
                      </a:r>
                      <a:r>
                        <a:rPr lang="ru-RU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хостов удаленного управления серверов ПАК в ЦОД 52 и ЦОД 63 в </a:t>
                      </a:r>
                      <a:r>
                        <a:rPr lang="en-US" sz="12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"</a:t>
                      </a:r>
                      <a:r>
                        <a:rPr lang="en-US" sz="12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-MGMT"</a:t>
                      </a:r>
                      <a:endParaRPr lang="en-US" sz="12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Support-PC&gt; </a:t>
                      </a:r>
                      <a:r>
                        <a:rPr lang="en-US" sz="1200" dirty="0" err="1" smtClean="0">
                          <a:latin typeface="Roboto"/>
                        </a:rPr>
                        <a:t>sh</a:t>
                      </a:r>
                      <a:r>
                        <a:rPr lang="en-US" sz="1200" dirty="0" smtClean="0">
                          <a:latin typeface="Roboto"/>
                        </a:rPr>
                        <a:t> </a:t>
                      </a:r>
                      <a:r>
                        <a:rPr lang="en-US" sz="1200" dirty="0" err="1" smtClean="0">
                          <a:latin typeface="Roboto"/>
                        </a:rPr>
                        <a:t>ip</a:t>
                      </a:r>
                      <a:endParaRPr lang="en-US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NAME        : Support-PC[1]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IP/MASK     : 192.168.255.2/24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GATEWAY     : 192.168.255.1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DNS         :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MAC         : 00:50:79:66:68:06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LPORT       : 20000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RHOST:PORT  : 127.0.0.1:30000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MTU         : 1500</a:t>
                      </a:r>
                      <a:endParaRPr lang="ru-RU" sz="1200" dirty="0" smtClean="0">
                        <a:latin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063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427290" y="230202"/>
            <a:ext cx="8477427" cy="468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139700">
              <a:buSzPts val="1400"/>
            </a:pPr>
            <a:r>
              <a:rPr lang="ru-RU" sz="1100" b="1" dirty="0">
                <a:latin typeface="Roboto"/>
                <a:ea typeface="Roboto"/>
                <a:cs typeface="Roboto"/>
                <a:sym typeface="Roboto"/>
              </a:rPr>
              <a:t>«ЦОД 52»</a:t>
            </a:r>
            <a:endParaRPr lang="en-US" sz="1100" b="1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192.168.152.11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192.168.152.11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time=428.787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192.168.152.12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192.168.152.12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time=166.418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192.168.152.13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192.168.152.13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time=134.565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192.168.152.14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192.168.152.14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=62 time=130.670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>
              <a:buSzPts val="1400"/>
            </a:pPr>
            <a:r>
              <a:rPr lang="ru-RU" sz="1100" b="1" dirty="0">
                <a:latin typeface="Roboto"/>
                <a:ea typeface="Roboto"/>
                <a:cs typeface="Roboto"/>
                <a:sym typeface="Roboto"/>
              </a:rPr>
              <a:t>«ЦОД 63»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192.168.163.11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192.168.163.11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time=215.539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192.168.163.12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192.168.163.12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time=140.988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192.168.163.13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192.168.163.13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time=203.905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</a:p>
          <a:p>
            <a:pPr marL="139700" lvl="0">
              <a:buSzPts val="1400"/>
            </a:pPr>
            <a:endParaRPr lang="ru-RU" sz="1100" dirty="0" smtClean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 smtClean="0">
                <a:latin typeface="Roboto"/>
                <a:ea typeface="Roboto"/>
                <a:cs typeface="Roboto"/>
                <a:sym typeface="Roboto"/>
              </a:rPr>
              <a:t>User-PC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&gt; ping 192.168.163.14</a:t>
            </a: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84 bytes from 192.168.163.14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=61 time=161.875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^C</a:t>
            </a:r>
            <a:endParaRPr lang="ru-RU" sz="11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Google Shape;108;p20">
            <a:extLst>
              <a:ext uri="{FF2B5EF4-FFF2-40B4-BE49-F238E27FC236}">
                <a16:creationId xmlns:a16="http://schemas.microsoft.com/office/drawing/2014/main" id="{308A74A6-A97F-46B4-B7F4-604BA21E1F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4011711"/>
              </p:ext>
            </p:extLst>
          </p:nvPr>
        </p:nvGraphicFramePr>
        <p:xfrm>
          <a:off x="4666003" y="230202"/>
          <a:ext cx="3645700" cy="3547842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3645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3999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наличия </a:t>
                      </a:r>
                      <a:r>
                        <a:rPr lang="en-US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IP </a:t>
                      </a: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связности по </a:t>
                      </a:r>
                      <a:r>
                        <a:rPr lang="en-US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L3 </a:t>
                      </a:r>
                      <a:r>
                        <a:rPr lang="ru-RU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Рабочего места 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Пользователя ПАК (</a:t>
                      </a:r>
                      <a:r>
                        <a:rPr lang="en-US" sz="1200" dirty="0" smtClean="0"/>
                        <a:t>User-PC</a:t>
                      </a:r>
                      <a:r>
                        <a:rPr lang="ru-RU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) в ЦОД 52</a:t>
                      </a:r>
                      <a:r>
                        <a:rPr lang="ru-RU" sz="1200" b="0" i="0" u="none" strike="noStrike" cap="none" baseline="0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Roboto"/>
                        </a:rPr>
                        <a:t> </a:t>
                      </a:r>
                      <a:r>
                        <a:rPr lang="ru-RU" sz="12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</a:t>
                      </a:r>
                      <a:r>
                        <a:rPr lang="ru-RU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хостов постановки запросов и выгрузки информации серверов ПАК в ЦОД 52 и ЦОД 63 в </a:t>
                      </a:r>
                      <a:r>
                        <a:rPr lang="en-US" sz="12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"</a:t>
                      </a:r>
                      <a:r>
                        <a:rPr lang="en-US" sz="12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2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-DATA"</a:t>
                      </a:r>
                      <a:endParaRPr lang="en-US" sz="12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User-PC&gt; </a:t>
                      </a:r>
                      <a:r>
                        <a:rPr lang="en-US" sz="1200" dirty="0" err="1" smtClean="0">
                          <a:latin typeface="Roboto"/>
                        </a:rPr>
                        <a:t>sh</a:t>
                      </a:r>
                      <a:r>
                        <a:rPr lang="en-US" sz="1200" dirty="0" smtClean="0">
                          <a:latin typeface="Roboto"/>
                        </a:rPr>
                        <a:t> </a:t>
                      </a:r>
                      <a:r>
                        <a:rPr lang="en-US" sz="1200" dirty="0" err="1" smtClean="0">
                          <a:latin typeface="Roboto"/>
                        </a:rPr>
                        <a:t>ip</a:t>
                      </a:r>
                      <a:endParaRPr lang="en-US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200" dirty="0" smtClean="0">
                        <a:latin typeface="Roboto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NAME        : User-PC[1]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IP/MASK     : 192.168.254.2/24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GATEWAY     : 192.168.254.1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DNS         :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MAC         : 00:50:79:66:68:07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LPORT       : 20000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RHOST:PORT  : 127.0.0.1:30000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 smtClean="0">
                          <a:latin typeface="Roboto"/>
                        </a:rPr>
                        <a:t>MTU         : 1500</a:t>
                      </a:r>
                      <a:endParaRPr lang="ru-RU" sz="1200" dirty="0" smtClean="0">
                        <a:latin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929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1076237" y="1020542"/>
            <a:ext cx="3584664" cy="394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/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192.168.152.12 (192.168.152.12)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time=279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192.168.152.13 (192.168.152.13)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time=323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192.168.152.14 (192.168.152.14)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time=358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192.168.163.11 (192.168.163.11)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time=553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192.168.163.12 (192.168.163.12)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time=667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time=429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time=288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192.168.152.13 (192.168.152.13)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time=903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192.168.152.14 (192.168.152.14)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time=586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192.168.163.11 (192.168.163.11)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time=368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192.168.163.12 (192.168.163.12)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time=548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time=1164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time=678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vrf-DATA-538 192.168.152.14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192.168.152.14 (192.168.152.14)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192.168.152.14: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time=239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Google Shape;108;p20">
            <a:extLst>
              <a:ext uri="{FF2B5EF4-FFF2-40B4-BE49-F238E27FC236}">
                <a16:creationId xmlns:a16="http://schemas.microsoft.com/office/drawing/2014/main" id="{E9769A19-C31B-4D53-8C9C-721D699F1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7760811"/>
              </p:ext>
            </p:extLst>
          </p:nvPr>
        </p:nvGraphicFramePr>
        <p:xfrm>
          <a:off x="677167" y="101600"/>
          <a:ext cx="8133546" cy="918942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8133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</a:t>
                      </a:r>
                      <a:r>
                        <a:rPr lang="ru-RU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наличия 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IP </a:t>
                      </a:r>
                      <a:r>
                        <a:rPr lang="ru-RU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связности по 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</a:t>
                      </a:r>
                      <a:r>
                        <a:rPr lang="ru-RU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внутри ЦОД и по </a:t>
                      </a:r>
                      <a:r>
                        <a:rPr lang="en-US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L3 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между ЦОД-</a:t>
                      </a:r>
                      <a:r>
                        <a:rPr lang="ru-RU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ами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для реализации сервиса передачи статистической информации между серверами ПАК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 </a:t>
                      </a:r>
                      <a:r>
                        <a:rPr lang="en-US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«</a:t>
                      </a:r>
                      <a:r>
                        <a:rPr lang="en-US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-DATA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».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(подсеть 192.168.152.0/24 в ЦОД 52 и подсеть 192.168.163.0/24 в ЦОД 63)</a:t>
                      </a:r>
                      <a:endParaRPr lang="en-US" sz="14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130;p23"/>
          <p:cNvSpPr txBox="1"/>
          <p:nvPr/>
        </p:nvSpPr>
        <p:spPr>
          <a:xfrm>
            <a:off x="4738080" y="1020542"/>
            <a:ext cx="3584664" cy="394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/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192.168.163.11 (192.168.163.11)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time=899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192.168.163.12 (192.168.163.12)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time=810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time=455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time=515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192.168.163.11 (192.168.163.11)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time=980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192.168.163.12 (192.168.163.12)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time=594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time=560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=60 time=731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192.168.163.12 (192.168.163.12)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time=377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time=678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time=475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192.168.163.13 (192.168.163.13)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time=875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time=960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vrf-DATA-538 192.168.163.14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192.168.163.14 (192.168.163.14)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192.168.163.14: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time=344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416155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1082587" y="999651"/>
            <a:ext cx="3584664" cy="394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/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192.168.74.112 (192.168.74.112)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time=421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192.168.74.113 (192.168.74.113)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time=1306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192.168.74.114 (192.168.74.114)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time=495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192.168.74.211 (192.168.74.211)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time=385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192.168.74.212 (192.168.74.212)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time=718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time=215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time=305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192.168.74.113 (192.168.74.113)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time=935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192.168.74.114 (192.168.74.114)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time=409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192.168.74.211 (192.168.74.211)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time=943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192.168.74.212 (192.168.74.212)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time=1504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time=1205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time=1606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vrf-DATA-374 192.168.74.114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192.168.74.114 (192.168.74.114)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192.168.74.114: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time=91.7 </a:t>
            </a:r>
            <a:r>
              <a:rPr lang="en-US" sz="1100" dirty="0" err="1" smtClean="0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3" name="Google Shape;108;p20">
            <a:extLst>
              <a:ext uri="{FF2B5EF4-FFF2-40B4-BE49-F238E27FC236}">
                <a16:creationId xmlns:a16="http://schemas.microsoft.com/office/drawing/2014/main" id="{E9769A19-C31B-4D53-8C9C-721D699F11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4642720"/>
              </p:ext>
            </p:extLst>
          </p:nvPr>
        </p:nvGraphicFramePr>
        <p:xfrm>
          <a:off x="677167" y="101600"/>
          <a:ext cx="8133546" cy="918942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8133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47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</a:t>
                      </a:r>
                      <a:r>
                        <a:rPr lang="ru-RU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наличия 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IP </a:t>
                      </a:r>
                      <a:r>
                        <a:rPr lang="ru-RU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связности по 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</a:t>
                      </a:r>
                      <a:r>
                        <a:rPr lang="ru-RU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внутри ЦОД и между ЦОД-</a:t>
                      </a:r>
                      <a:r>
                        <a:rPr lang="ru-RU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ами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для реализации сервиса передачи потока содержимого между серверами ПАК</a:t>
                      </a:r>
                      <a:r>
                        <a:rPr lang="en-US" sz="14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 </a:t>
                      </a:r>
                      <a:r>
                        <a:rPr lang="en-US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«</a:t>
                      </a:r>
                      <a:r>
                        <a:rPr lang="en-US" sz="1400" baseline="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vrf</a:t>
                      </a:r>
                      <a:r>
                        <a:rPr lang="en-US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-DATA</a:t>
                      </a: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».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(подсеть 192.168.74.0/24)</a:t>
                      </a:r>
                      <a:endParaRPr lang="en-US" sz="14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130;p23"/>
          <p:cNvSpPr txBox="1"/>
          <p:nvPr/>
        </p:nvSpPr>
        <p:spPr>
          <a:xfrm>
            <a:off x="5010640" y="1020542"/>
            <a:ext cx="3584664" cy="394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/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192.168.74.211 (192.168.74.211)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time=1226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192.168.74.212 (192.168.74.212)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time=1314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time=1158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time=880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vrf-DATA-374 192.168.74.211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192.168.74.211 (192.168.74.211)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192.168.74.211: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time=503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192.168.74.212 (192.168.74.212)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time=1489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time=1295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Server4-52#ping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time=1199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vrf-DATA-374 192.168.74.212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192.168.74.212 (192.168.74.212)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192.168.74.212: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time=131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time=175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Server1-63#ping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time=238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vrf-DATA-374 192.168.74.213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192.168.74.213 (192.168.74.213)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192.168.74.213: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time=773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Server2-63#ping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time=1196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Server3-63#ping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vrf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 vrf-DATA-374 192.168.74.214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PING 192.168.74.214 (192.168.74.214) 72(100) bytes of data.</a:t>
            </a:r>
          </a:p>
          <a:p>
            <a:pPr marL="139700" lvl="0">
              <a:buSzPts val="1400"/>
            </a:pP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80 bytes from 192.168.74.214: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icmp_seq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=1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ttl</a:t>
            </a:r>
            <a:r>
              <a:rPr lang="en-US" sz="1100" dirty="0">
                <a:latin typeface="Roboto"/>
                <a:ea typeface="Roboto"/>
                <a:cs typeface="Roboto"/>
                <a:sym typeface="Roboto"/>
              </a:rPr>
              <a:t>=64 time=612 </a:t>
            </a:r>
            <a:r>
              <a:rPr lang="en-US" sz="1100" dirty="0" err="1">
                <a:latin typeface="Roboto"/>
                <a:ea typeface="Roboto"/>
                <a:cs typeface="Roboto"/>
                <a:sym typeface="Roboto"/>
              </a:rPr>
              <a:t>ms</a:t>
            </a:r>
            <a:endParaRPr lang="en-US" sz="1100"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508344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 smtClean="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42" name="Google Shape;142;p25"/>
          <p:cNvGraphicFramePr/>
          <p:nvPr>
            <p:extLst>
              <p:ext uri="{D42A27DB-BD31-4B8C-83A1-F6EECF244321}">
                <p14:modId xmlns:p14="http://schemas.microsoft.com/office/powerpoint/2010/main" val="1349499374"/>
              </p:ext>
            </p:extLst>
          </p:nvPr>
        </p:nvGraphicFramePr>
        <p:xfrm>
          <a:off x="952500" y="1544194"/>
          <a:ext cx="7239000" cy="2686772"/>
        </p:xfrm>
        <a:graphic>
          <a:graphicData uri="http://schemas.openxmlformats.org/drawingml/2006/table">
            <a:tbl>
              <a:tblPr>
                <a:noFill/>
                <a:tableStyleId>{04A3A72E-0380-4190-9ED1-4BD67E73B53A}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Спроектированное и смоделированное решение сетевой архитектуры CLOS с использованием VXLAN\EVPN фабрики удовлетворяет требованиям ПАК накопления статистической информации и содержимого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с разнесением компонент ПАК на два ЦОД-а, объединенных в топологию 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Multisite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lang="ru-RU" sz="13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300" dirty="0" smtClean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ru" sz="13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Обеспечения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резервирования физических подключений серверов в составе ПАК;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81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r>
                        <a:rPr lang="ru" sz="13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300" b="1" dirty="0">
                        <a:solidFill>
                          <a:srgbClr val="013D8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Обеспечения 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L2/L3 </a:t>
                      </a:r>
                      <a:r>
                        <a:rPr lang="ru-RU" sz="13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межЦОДовой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связности в топологии </a:t>
                      </a:r>
                      <a:r>
                        <a:rPr lang="en-US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Multisite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8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" sz="1300" b="1" dirty="0" smtClean="0">
                          <a:solidFill>
                            <a:srgbClr val="013D8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Обеспечения </a:t>
                      </a:r>
                      <a:r>
                        <a:rPr lang="ru-RU" sz="1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Roboto"/>
                          <a:ea typeface="Arial"/>
                          <a:cs typeface="Arial"/>
                          <a:sym typeface="Arial"/>
                        </a:rPr>
                        <a:t>бесшовного масштабирования на большее количество ЦОД по потребности расширения аппаратных ресурсов ПАК.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8833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900"/>
              <a:t>Спасибо за внимание!</a:t>
            </a:r>
            <a:r>
              <a:rPr lang="ru" sz="5000" b="0"/>
              <a:t/>
            </a:r>
            <a:br>
              <a:rPr lang="ru" sz="5000" b="0"/>
            </a:br>
            <a:endParaRPr sz="4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3884</Words>
  <Application>Microsoft Office PowerPoint</Application>
  <PresentationFormat>Экран (16:9)</PresentationFormat>
  <Paragraphs>562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Courier New</vt:lpstr>
      <vt:lpstr>Roboto</vt:lpstr>
      <vt:lpstr>Светлая тема</vt:lpstr>
      <vt:lpstr>Дизайн сетей ЦОД </vt:lpstr>
      <vt:lpstr>Меня хорошо видно &amp; слышно?</vt:lpstr>
      <vt:lpstr>Защита проекта. Тема: Моделирование реализации ПАК накопления статистической информации и содержимого на базе сетевой архитектуры CLOS с использованием VXLAN/EVPN фабрик в георазнесенных ЦОД.   </vt:lpstr>
      <vt:lpstr>Презентация PowerPoint</vt:lpstr>
      <vt:lpstr>Презентация PowerPoint</vt:lpstr>
      <vt:lpstr>Что планировалось</vt:lpstr>
      <vt:lpstr>Используемые технологии </vt:lpstr>
      <vt:lpstr>Используемые технологии </vt:lpstr>
      <vt:lpstr>Схемы/архитектура</vt:lpstr>
      <vt:lpstr>Что получилось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 </vt:lpstr>
      <vt:lpstr>Спасибо за внимание!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</dc:title>
  <dc:creator>Пользователь</dc:creator>
  <cp:lastModifiedBy>Artem Sazonov</cp:lastModifiedBy>
  <cp:revision>51</cp:revision>
  <dcterms:modified xsi:type="dcterms:W3CDTF">2026-06-28T14:44:05Z</dcterms:modified>
</cp:coreProperties>
</file>